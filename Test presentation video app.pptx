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21150" y="1247140"/>
            <a:ext cx="7891760" cy="3450844"/>
          </a:xfrm>
        </p:spPr>
        <p:txBody>
          <a:bodyPr anchor="t"/>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3221150" y="4818126"/>
            <a:ext cx="7891760" cy="1268984"/>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Rectangle 8"/>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Date Placeholder 6"/>
          <p:cNvSpPr>
            <a:spLocks noGrp="1"/>
          </p:cNvSpPr>
          <p:nvPr>
            <p:ph type="dt" sz="half" idx="10"/>
          </p:nvPr>
        </p:nvSpPr>
        <p:spPr/>
        <p:txBody>
          <a:bodyPr/>
          <a:lstStyle/>
          <a:p>
            <a:pPr algn="r"/>
            <a:fld id="{1449AA12-8195-4182-A7AC-2E7E59DFBDAF}" type="datetimeFigureOut">
              <a:rPr lang="en-US" smtClean="0"/>
            </a:fld>
            <a:endParaRPr lang="en-US"/>
          </a:p>
        </p:txBody>
      </p:sp>
      <p:sp>
        <p:nvSpPr>
          <p:cNvPr id="8" name="Footer Placeholder 7"/>
          <p:cNvSpPr>
            <a:spLocks noGrp="1"/>
          </p:cNvSpPr>
          <p:nvPr>
            <p:ph type="ftr" sz="quarter" idx="11"/>
          </p:nvPr>
        </p:nvSpPr>
        <p:spPr>
          <a:xfrm>
            <a:off x="3221150" y="6292850"/>
            <a:ext cx="4114800" cy="365125"/>
          </a:xfrm>
        </p:spPr>
        <p:txBody>
          <a:bodyPr/>
          <a:lstStyle/>
          <a:p>
            <a:pPr algn="l"/>
            <a:endParaRPr lang="en-US" dirty="0"/>
          </a:p>
        </p:txBody>
      </p:sp>
      <p:sp>
        <p:nvSpPr>
          <p:cNvPr id="11" name="Slide Number Placeholder 10"/>
          <p:cNvSpPr>
            <a:spLocks noGrp="1"/>
          </p:cNvSpPr>
          <p:nvPr>
            <p:ph type="sldNum" sz="quarter" idx="12"/>
          </p:nvPr>
        </p:nvSpPr>
        <p:spPr/>
        <p:txBody>
          <a:bodyPr/>
          <a:lstStyle/>
          <a:p>
            <a:fld id="{14DFC975-2FD7-44A5-9E78-ECBA46156075}"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449AA12-8195-4182-A7AC-2E7E59DFBDA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DFC975-2FD7-44A5-9E78-ECBA46156075}" type="slidenum">
              <a:rPr lang="en-US" smtClean="0"/>
            </a:fld>
            <a:endParaRPr lang="en-US"/>
          </a:p>
        </p:txBody>
      </p:sp>
      <p:sp>
        <p:nvSpPr>
          <p:cNvPr id="51" name="Rectangle 50"/>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221150" y="1251674"/>
            <a:ext cx="7891760" cy="2914688"/>
          </a:xfrm>
        </p:spPr>
        <p:txBody>
          <a:bodyPr anchor="t"/>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3221150" y="4818126"/>
            <a:ext cx="7891760" cy="1271524"/>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449AA12-8195-4182-A7AC-2E7E59DFBDAF}" type="datetimeFigureOut">
              <a:rPr lang="en-US" smtClean="0"/>
            </a:fld>
            <a:endParaRPr lang="en-US"/>
          </a:p>
        </p:txBody>
      </p:sp>
      <p:sp>
        <p:nvSpPr>
          <p:cNvPr id="5" name="Footer Placeholder 4"/>
          <p:cNvSpPr>
            <a:spLocks noGrp="1"/>
          </p:cNvSpPr>
          <p:nvPr>
            <p:ph type="ftr" sz="quarter" idx="11"/>
          </p:nvPr>
        </p:nvSpPr>
        <p:spPr>
          <a:xfrm>
            <a:off x="3221150" y="6292850"/>
            <a:ext cx="4114800" cy="365125"/>
          </a:xfrm>
        </p:spPr>
        <p:txBody>
          <a:bodyPr/>
          <a:lstStyle/>
          <a:p>
            <a:endParaRPr lang="en-US"/>
          </a:p>
        </p:txBody>
      </p:sp>
      <p:sp>
        <p:nvSpPr>
          <p:cNvPr id="6" name="Slide Number Placeholder 5"/>
          <p:cNvSpPr>
            <a:spLocks noGrp="1"/>
          </p:cNvSpPr>
          <p:nvPr>
            <p:ph type="sldNum" sz="quarter" idx="12"/>
          </p:nvPr>
        </p:nvSpPr>
        <p:spPr/>
        <p:txBody>
          <a:bodyPr/>
          <a:lstStyle/>
          <a:p>
            <a:fld id="{14DFC975-2FD7-44A5-9E78-ECBA46156075}" type="slidenum">
              <a:rPr lang="en-US" smtClean="0"/>
            </a:fld>
            <a:endParaRPr lang="en-US"/>
          </a:p>
        </p:txBody>
      </p:sp>
      <p:sp>
        <p:nvSpPr>
          <p:cNvPr id="9" name="Rectangle 8"/>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87710" y="455362"/>
            <a:ext cx="9486690" cy="1550419"/>
          </a:xfrm>
        </p:spPr>
        <p:txBody>
          <a:bodyPr/>
          <a:lstStyle/>
          <a:p>
            <a:r>
              <a:rPr lang="en-US"/>
              <a:t>Click to edit Master title style</a:t>
            </a:r>
            <a:endParaRPr lang="en-US"/>
          </a:p>
        </p:txBody>
      </p:sp>
      <p:sp>
        <p:nvSpPr>
          <p:cNvPr id="3" name="Content Placeholder 2"/>
          <p:cNvSpPr>
            <a:spLocks noGrp="1"/>
          </p:cNvSpPr>
          <p:nvPr>
            <p:ph sz="half" idx="1"/>
          </p:nvPr>
        </p:nvSpPr>
        <p:spPr>
          <a:xfrm>
            <a:off x="1587709" y="2160016"/>
            <a:ext cx="4425437" cy="3927093"/>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648963" y="2160016"/>
            <a:ext cx="4425437" cy="39270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1449AA12-8195-4182-A7AC-2E7E59DFBDA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DFC975-2FD7-44A5-9E78-ECBA46156075}" type="slidenum">
              <a:rPr lang="en-US" smtClean="0"/>
            </a:fld>
            <a:endParaRPr lang="en-US"/>
          </a:p>
        </p:txBody>
      </p:sp>
      <p:sp>
        <p:nvSpPr>
          <p:cNvPr id="10" name="Rectangle 9"/>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91056" y="457200"/>
            <a:ext cx="9521854" cy="155448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91057"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1591056" y="2988998"/>
            <a:ext cx="4425697" cy="3098112"/>
          </a:xfrm>
        </p:spPr>
        <p:txBody>
          <a:bodyPr/>
          <a:lstStyle>
            <a:lvl1pPr>
              <a:defRPr sz="2000"/>
            </a:lvl1pPr>
            <a:lvl2pPr>
              <a:defRPr sz="1800"/>
            </a:lvl2pPr>
            <a:lvl3pPr>
              <a:defRPr sz="1600"/>
            </a:lvl3pPr>
            <a:lvl4pPr>
              <a:defRPr sz="1400"/>
            </a:lvl4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687214"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687214" y="2988998"/>
            <a:ext cx="4425696" cy="3098112"/>
          </a:xfrm>
        </p:spPr>
        <p:txBody>
          <a:bodyPr/>
          <a:lstStyle>
            <a:lvl1pPr>
              <a:defRPr sz="2000"/>
            </a:lvl1pPr>
            <a:lvl2pPr>
              <a:defRPr sz="1800"/>
            </a:lvl2pPr>
            <a:lvl3pPr>
              <a:defRPr sz="1600"/>
            </a:lvl3pPr>
            <a:lvl4pPr>
              <a:defRPr sz="1400"/>
            </a:lvl4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1449AA12-8195-4182-A7AC-2E7E59DFBDAF}"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DFC975-2FD7-44A5-9E78-ECBA46156075}" type="slidenum">
              <a:rPr lang="en-US" smtClean="0"/>
            </a:fld>
            <a:endParaRPr lang="en-US"/>
          </a:p>
        </p:txBody>
      </p:sp>
      <p:sp>
        <p:nvSpPr>
          <p:cNvPr id="12" name="Rectangle 11"/>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449AA12-8195-4182-A7AC-2E7E59DFBDAF}"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DFC975-2FD7-44A5-9E78-ECBA46156075}" type="slidenum">
              <a:rPr lang="en-US" smtClean="0"/>
            </a:fld>
            <a:endParaRPr lang="en-US"/>
          </a:p>
        </p:txBody>
      </p:sp>
      <p:sp>
        <p:nvSpPr>
          <p:cNvPr id="8" name="Rectangle 7"/>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49AA12-8195-4182-A7AC-2E7E59DFBDAF}"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4DFC975-2FD7-44A5-9E78-ECBA46156075}" type="slidenum">
              <a:rPr lang="en-US" smtClean="0"/>
            </a:fld>
            <a:endParaRPr lang="en-US"/>
          </a:p>
        </p:txBody>
      </p:sp>
      <p:sp>
        <p:nvSpPr>
          <p:cNvPr id="7" name="Rectangle 6"/>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87712" y="455362"/>
            <a:ext cx="4043440" cy="1584512"/>
          </a:xfrm>
        </p:spPr>
        <p:txBody>
          <a:bodyPr anchor="b"/>
          <a:lstStyle>
            <a:lvl1pPr>
              <a:defRPr sz="3200"/>
            </a:lvl1pPr>
          </a:lstStyle>
          <a:p>
            <a:r>
              <a:rPr lang="en-US" dirty="0"/>
              <a:t>Click to edit Master title style</a:t>
            </a:r>
            <a:endParaRPr lang="en-US" dirty="0"/>
          </a:p>
        </p:txBody>
      </p:sp>
      <p:sp>
        <p:nvSpPr>
          <p:cNvPr id="3" name="Content Placeholder 2"/>
          <p:cNvSpPr>
            <a:spLocks noGrp="1"/>
          </p:cNvSpPr>
          <p:nvPr>
            <p:ph idx="1"/>
          </p:nvPr>
        </p:nvSpPr>
        <p:spPr>
          <a:xfrm>
            <a:off x="6271232" y="565151"/>
            <a:ext cx="5358384" cy="5521960"/>
          </a:xfrm>
        </p:spPr>
        <p:txBody>
          <a:bodyPr>
            <a:normAutofit/>
          </a:bodyPr>
          <a:lstStyle>
            <a:lvl1pPr>
              <a:defRPr sz="2200"/>
            </a:lvl1pPr>
            <a:lvl2pPr>
              <a:defRPr sz="1900"/>
            </a:lvl2pPr>
            <a:lvl3pPr>
              <a:defRPr sz="1700"/>
            </a:lvl3pPr>
            <a:lvl4pPr>
              <a:defRPr sz="1500"/>
            </a:lvl4pPr>
            <a:lvl5pPr>
              <a:defRPr sz="1500"/>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1587712" y="2039874"/>
            <a:ext cx="4043440"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449AA12-8195-4182-A7AC-2E7E59DFBDA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DFC975-2FD7-44A5-9E78-ECBA46156075}" type="slidenum">
              <a:rPr lang="en-US" smtClean="0"/>
            </a:fld>
            <a:endParaRPr lang="en-US"/>
          </a:p>
        </p:txBody>
      </p:sp>
      <p:sp>
        <p:nvSpPr>
          <p:cNvPr id="10" name="Rectangle 9"/>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87711" y="455362"/>
            <a:ext cx="4043436" cy="1584512"/>
          </a:xfrm>
        </p:spPr>
        <p:txBody>
          <a:bodyPr anchor="b"/>
          <a:lstStyle>
            <a:lvl1pPr>
              <a:defRPr sz="3200"/>
            </a:lvl1pPr>
          </a:lstStyle>
          <a:p>
            <a:r>
              <a:rPr lang="en-US" dirty="0"/>
              <a:t>Click to edit Master title style</a:t>
            </a:r>
            <a:endParaRPr lang="en-US" dirty="0"/>
          </a:p>
        </p:txBody>
      </p:sp>
      <p:sp>
        <p:nvSpPr>
          <p:cNvPr id="3" name="Picture Placeholder 2"/>
          <p:cNvSpPr>
            <a:spLocks noGrp="1"/>
          </p:cNvSpPr>
          <p:nvPr>
            <p:ph type="pic" idx="1"/>
          </p:nvPr>
        </p:nvSpPr>
        <p:spPr>
          <a:xfrm>
            <a:off x="6271232" y="565150"/>
            <a:ext cx="5355607" cy="55226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1587711" y="2039874"/>
            <a:ext cx="4043436"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449AA12-8195-4182-A7AC-2E7E59DFBDA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DFC975-2FD7-44A5-9E78-ECBA46156075}" type="slidenum">
              <a:rPr lang="en-US" smtClean="0"/>
            </a:fld>
            <a:endParaRPr lang="en-US"/>
          </a:p>
        </p:txBody>
      </p:sp>
      <p:sp>
        <p:nvSpPr>
          <p:cNvPr id="10" name="Rectangle 9"/>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587710" y="455362"/>
            <a:ext cx="9525200" cy="155041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587710" y="2160016"/>
            <a:ext cx="9525200" cy="3926152"/>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1449AA12-8195-4182-A7AC-2E7E59DFBDA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DFC975-2FD7-44A5-9E78-ECBA46156075}" type="slidenum">
              <a:rPr lang="en-US" smtClean="0"/>
            </a:fld>
            <a:endParaRPr lang="en-US"/>
          </a:p>
        </p:txBody>
      </p:sp>
      <p:sp>
        <p:nvSpPr>
          <p:cNvPr id="9" name="Rectangle 8"/>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6380" y="565149"/>
            <a:ext cx="2266530" cy="5611813"/>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587710" y="565149"/>
            <a:ext cx="7088929" cy="5611813"/>
          </a:xfrm>
        </p:spPr>
        <p:txBody>
          <a:bodyPr vert="eaVert"/>
          <a:lstStyle/>
          <a:p>
            <a:pPr lvl="0"/>
            <a:r>
              <a:rPr lang="en-US"/>
              <a:t>Click to edit Master text styles</a:t>
            </a:r>
            <a:endParaRPr lang="en-US"/>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1449AA12-8195-4182-A7AC-2E7E59DFBDA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DFC975-2FD7-44A5-9E78-ECBA46156075}" type="slidenum">
              <a:rPr lang="en-US" smtClean="0"/>
            </a:fld>
            <a:endParaRPr lang="en-US"/>
          </a:p>
        </p:txBody>
      </p:sp>
      <p:sp>
        <p:nvSpPr>
          <p:cNvPr id="9" name="Rectangle 8"/>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87710" y="455362"/>
            <a:ext cx="9486690" cy="1550419"/>
          </a:xfrm>
          <a:prstGeom prst="rect">
            <a:avLst/>
          </a:prstGeom>
        </p:spPr>
        <p:txBody>
          <a:bodyPr vert="horz" lIns="91440" tIns="45720" rIns="91440" bIns="45720" rtlCol="0" anchor="t">
            <a:normAutofit/>
          </a:bodyPr>
          <a:lstStyle/>
          <a:p>
            <a:r>
              <a:rPr lang="en-US" dirty="0"/>
              <a:t>Click to edit Master title style</a:t>
            </a:r>
            <a:endParaRPr lang="en-US" dirty="0"/>
          </a:p>
        </p:txBody>
      </p:sp>
      <p:sp>
        <p:nvSpPr>
          <p:cNvPr id="3" name="Text Placeholder 2"/>
          <p:cNvSpPr>
            <a:spLocks noGrp="1"/>
          </p:cNvSpPr>
          <p:nvPr>
            <p:ph type="body" idx="1"/>
          </p:nvPr>
        </p:nvSpPr>
        <p:spPr>
          <a:xfrm>
            <a:off x="1587710" y="2160016"/>
            <a:ext cx="9486690" cy="3926152"/>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8018632" y="6292850"/>
            <a:ext cx="3094278"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49AA12-8195-4182-A7AC-2E7E59DFBDAF}" type="datetimeFigureOut">
              <a:rPr lang="en-US" smtClean="0"/>
            </a:fld>
            <a:endParaRPr lang="en-US"/>
          </a:p>
        </p:txBody>
      </p:sp>
      <p:sp>
        <p:nvSpPr>
          <p:cNvPr id="5" name="Footer Placeholder 4"/>
          <p:cNvSpPr>
            <a:spLocks noGrp="1"/>
          </p:cNvSpPr>
          <p:nvPr>
            <p:ph type="ftr" sz="quarter" idx="3"/>
          </p:nvPr>
        </p:nvSpPr>
        <p:spPr>
          <a:xfrm>
            <a:off x="1587711" y="6292850"/>
            <a:ext cx="41148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1149574" y="6292850"/>
            <a:ext cx="813816"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DFC975-2FD7-44A5-9E78-ECBA46156075}" type="slidenum">
              <a:rPr lang="en-US" smtClean="0"/>
            </a:fld>
            <a:endParaRPr lang="en-US"/>
          </a:p>
        </p:txBody>
      </p:sp>
      <p:sp>
        <p:nvSpPr>
          <p:cNvPr id="8" name="TextBox 7"/>
          <p:cNvSpPr txBox="1"/>
          <p:nvPr userDrawn="1"/>
        </p:nvSpPr>
        <p:spPr>
          <a:xfrm>
            <a:off x="63500" y="6642100"/>
            <a:ext cx="1011238"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ea typeface="Calibri" panose="020F0502020204030204" pitchFamily="34" charset="0"/>
                <a:cs typeface="Calibri" panose="020F0502020204030204" pitchFamily="34" charset="0"/>
              </a:rPr>
              <a:t>Classified - General</a:t>
            </a:r>
            <a:endParaRPr lang="en-GB" sz="10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ubertesters.com/blog/real-devices-vs-emulators-youve-got-two-options/" TargetMode="External"/><Relationship Id="rId3" Type="http://schemas.openxmlformats.org/officeDocument/2006/relationships/hyperlink" Target="https://ubertesters.com/search/Cross-platform" TargetMode="External"/><Relationship Id="rId2" Type="http://schemas.openxmlformats.org/officeDocument/2006/relationships/hyperlink" Target="https://ubertesters.com/user-experience-testing/" TargetMode="External"/><Relationship Id="rId1" Type="http://schemas.openxmlformats.org/officeDocument/2006/relationships/hyperlink" Target="https://ubertesters.com/functional-test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018633" y="1247140"/>
            <a:ext cx="3608208" cy="3450844"/>
          </a:xfrm>
        </p:spPr>
        <p:txBody>
          <a:bodyPr>
            <a:normAutofit/>
          </a:bodyPr>
          <a:lstStyle/>
          <a:p>
            <a:r>
              <a:rPr lang="en-US" sz="4800" dirty="0"/>
              <a:t>Video app testing task</a:t>
            </a:r>
            <a:endParaRPr lang="en-GB" sz="4800" dirty="0"/>
          </a:p>
        </p:txBody>
      </p:sp>
      <p:pic>
        <p:nvPicPr>
          <p:cNvPr id="17" name="Picture 16" descr="Multicolored smoke gradient"/>
          <p:cNvPicPr>
            <a:picLocks noChangeAspect="1"/>
          </p:cNvPicPr>
          <p:nvPr/>
        </p:nvPicPr>
        <p:blipFill>
          <a:blip r:embed="rId1"/>
          <a:srcRect l="11533" r="15890" b="-1"/>
          <a:stretch>
            <a:fillRect/>
          </a:stretch>
        </p:blipFill>
        <p:spPr>
          <a:xfrm>
            <a:off x="-1" y="10"/>
            <a:ext cx="7456513" cy="6857990"/>
          </a:xfrm>
          <a:custGeom>
            <a:avLst/>
            <a:gdLst/>
            <a:ahLst/>
            <a:cxnLst/>
            <a:rect l="l" t="t" r="r" b="b"/>
            <a:pathLst>
              <a:path w="7456513" h="6858000">
                <a:moveTo>
                  <a:pt x="0" y="0"/>
                </a:moveTo>
                <a:lnTo>
                  <a:pt x="6059386" y="0"/>
                </a:lnTo>
                <a:lnTo>
                  <a:pt x="6059386" y="1375489"/>
                </a:lnTo>
                <a:lnTo>
                  <a:pt x="7456513" y="1375489"/>
                </a:lnTo>
                <a:lnTo>
                  <a:pt x="7456513" y="6858000"/>
                </a:lnTo>
                <a:lnTo>
                  <a:pt x="0" y="6858000"/>
                </a:lnTo>
                <a:close/>
              </a:path>
            </a:pathLst>
          </a:custGeom>
        </p:spPr>
      </p:pic>
      <p:sp>
        <p:nvSpPr>
          <p:cNvPr id="22" name="Rectangle 21"/>
          <p:cNvSpPr>
            <a:spLocks noGrp="1" noRot="1" noChangeAspect="1" noMove="1" noResize="1" noEditPoints="1" noAdjustHandles="1" noChangeArrowheads="1" noChangeShapeType="1" noTextEdit="1"/>
          </p:cNvSpPr>
          <p:nvPr/>
        </p:nvSpPr>
        <p:spPr>
          <a:xfrm>
            <a:off x="4685818"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4" name="Rectangle 23"/>
          <p:cNvSpPr>
            <a:spLocks noGrp="1" noRot="1" noChangeAspect="1" noMove="1" noResize="1" noEditPoints="1" noAdjustHandles="1" noChangeArrowheads="1" noChangeShapeType="1" noTextEdit="1"/>
          </p:cNvSpPr>
          <p:nvPr/>
        </p:nvSpPr>
        <p:spPr>
          <a:xfrm>
            <a:off x="4685818"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87710" y="422031"/>
            <a:ext cx="9486690" cy="5664137"/>
          </a:xfrm>
        </p:spPr>
        <p:txBody>
          <a:bodyPr/>
          <a:lstStyle/>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Test Closure Report</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Project Name:</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Video Call Application</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Testing Period:</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December 2024</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Prepared By:</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Mihaela Maxim</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Date:</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December 9, 2024</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1. Introduction</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The purpose of this report is to summarize the testing activities and findings for the video call application. This includes an overview of the test cases executed, key findings, and recommendations for future improvements.</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87710" y="462116"/>
            <a:ext cx="9486690" cy="5624052"/>
          </a:xfrm>
        </p:spPr>
        <p:txBody>
          <a:bodyPr>
            <a:normAutofit/>
          </a:bodyPr>
          <a:lstStyle/>
          <a:p>
            <a:pPr>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2. Test Summary</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Total Test Cases Executed:</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9</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Test Cases Passed:</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8</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Test Cases Failed:</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1</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Test Coverage:</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Login, Video Call, Screen Sharing, Audio and Video Quality, Chat Functionality</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3. Key Findings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Critical Issues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arabicPeriod"/>
              <a:tabLst>
                <a:tab pos="4572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Screen Sharing Crash</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Description:</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The application crashes when users attempt to share their screens.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Impact:</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High. Disrupts ongoing meetings and prevents effective collaboration.</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Status:</a:t>
            </a:r>
            <a:r>
              <a:rPr lang="en-GB" sz="1600" kern="100" dirty="0">
                <a:effectLst/>
                <a:latin typeface="Aptos" panose="020B0004020202020204" pitchFamily="34" charset="0"/>
                <a:ea typeface="Aptos" panose="020B0004020202020204" pitchFamily="34" charset="0"/>
                <a:cs typeface="Times New Roman" panose="02020603050405020304" pitchFamily="18" charset="0"/>
              </a:rPr>
              <a:t> Open</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87710" y="462116"/>
            <a:ext cx="9486690" cy="5624052"/>
          </a:xfrm>
        </p:spPr>
        <p:txBody>
          <a:bodyPr>
            <a:normAutofit/>
          </a:bodyPr>
          <a:lstStyle/>
          <a:p>
            <a:pPr>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4. Recommendations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Immediate Fixes: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1600" kern="100" dirty="0">
                <a:effectLst/>
                <a:latin typeface="Aptos" panose="020B0004020202020204" pitchFamily="34" charset="0"/>
                <a:ea typeface="Aptos" panose="020B0004020202020204" pitchFamily="34" charset="0"/>
                <a:cs typeface="Times New Roman" panose="02020603050405020304" pitchFamily="18" charset="0"/>
              </a:rPr>
              <a:t>Resolve the screen sharing crash issue to ensure stability during calls.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Future Improvements: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1600" kern="100" dirty="0">
                <a:effectLst/>
                <a:latin typeface="Aptos" panose="020B0004020202020204" pitchFamily="34" charset="0"/>
                <a:ea typeface="Aptos" panose="020B0004020202020204" pitchFamily="34" charset="0"/>
                <a:cs typeface="Times New Roman" panose="02020603050405020304" pitchFamily="18" charset="0"/>
              </a:rPr>
              <a:t>Conduct user experience (UX) research to identify pain points and redesign the UI for better usability.</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r>
              <a:rPr lang="en-GB" sz="1600" kern="100" dirty="0">
                <a:effectLst/>
                <a:latin typeface="Aptos" panose="020B0004020202020204" pitchFamily="34" charset="0"/>
                <a:ea typeface="Aptos" panose="020B0004020202020204" pitchFamily="34" charset="0"/>
                <a:cs typeface="Times New Roman" panose="02020603050405020304" pitchFamily="18" charset="0"/>
              </a:rPr>
              <a:t>Implement comprehensive accessibility features to make the application usable for all users, including those with disabilities.</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5. Conclusion</a:t>
            </a:r>
            <a:endParaRPr lang="en-GB"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600" b="1" kern="100" dirty="0">
                <a:effectLst/>
                <a:latin typeface="Aptos" panose="020B0004020202020204" pitchFamily="34" charset="0"/>
                <a:ea typeface="Aptos" panose="020B0004020202020204" pitchFamily="34" charset="0"/>
                <a:cs typeface="Times New Roman" panose="02020603050405020304" pitchFamily="18" charset="0"/>
              </a:rPr>
              <a:t>The video call application performs well in most areas, but critical issues like the screen sharing crash need to be addressed promptly. Further testing is recommended after fixes are implemented to ensure the application meets user expectations and provides a reliable, secure, and user-friendly experience.</a:t>
            </a:r>
            <a:endParaRPr lang="en-GB" sz="1600" b="1"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87710" y="462116"/>
            <a:ext cx="9486690" cy="5624052"/>
          </a:xfrm>
        </p:spPr>
        <p:txBody>
          <a:bodyPr>
            <a:normAutofit fontScale="77500" lnSpcReduction="20000"/>
          </a:bodyPr>
          <a:lstStyle/>
          <a:p>
            <a:pPr algn="ctr">
              <a:lnSpc>
                <a:spcPct val="115000"/>
              </a:lnSpc>
              <a:spcAft>
                <a:spcPts val="800"/>
              </a:spcAft>
            </a:pPr>
            <a:r>
              <a:rPr lang="en-GB" sz="2800" b="1" kern="100" dirty="0">
                <a:effectLst/>
                <a:latin typeface="Aptos" panose="020B0004020202020204" pitchFamily="34" charset="0"/>
                <a:ea typeface="Aptos" panose="020B0004020202020204" pitchFamily="34" charset="0"/>
                <a:cs typeface="Times New Roman" panose="02020603050405020304" pitchFamily="18" charset="0"/>
              </a:rPr>
              <a:t>Testing a video app requires a complex approach and a large number of functions to consider, so I recommend focus on:</a:t>
            </a:r>
            <a:endParaRPr lang="en-GB" sz="28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1"/>
              </a:rPr>
              <a:t>Functional Testing</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Does the video app meet all the software requirements? Is the entire functionality operating as expected?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User Experience Testing</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Will a common user enjoy using the app? It is crucial to test the app using various user stories and check the app’s navigation, load time.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Cross-platform Testing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The video app should be easy and comfortable to use on various devices and platforms – desktop, mobile, windows, Android, IOS and with different types of browsers. Cross-platform testing is performed to check these features under a large matrix of different alternatives and various combinations.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Testing on many global Real Devices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b="1" kern="100" dirty="0">
                <a:effectLst/>
                <a:latin typeface="Aptos" panose="020B0004020202020204" pitchFamily="34" charset="0"/>
                <a:ea typeface="Aptos" panose="020B0004020202020204" pitchFamily="34" charset="0"/>
                <a:cs typeface="Times New Roman" panose="02020603050405020304" pitchFamily="18" charset="0"/>
              </a:rPr>
              <a:t>It is important to test he video app on different device levels (high, mid and low-end devices), different platforms (mobile iOS, mobile Android, desktops), various screen sizes, Wi-Fi or data (2G, 3G, 4G) to make sure it works perfectly for users with different devices.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GB" dirty="0"/>
          </a:p>
        </p:txBody>
      </p:sp>
    </p:spTree>
  </p:cSld>
  <p:clrMapOvr>
    <a:masterClrMapping/>
  </p:clrMapOvr>
  <p:transition spd="med">
    <p:pull/>
  </p:transition>
</p:sld>
</file>

<file path=ppt/theme/theme1.xml><?xml version="1.0" encoding="utf-8"?>
<a:theme xmlns:a="http://schemas.openxmlformats.org/drawingml/2006/main" name="InterweaveVTI">
  <a:themeElements>
    <a:clrScheme name="AnalogousFromDarkSeedLeftStep">
      <a:dk1>
        <a:srgbClr val="000000"/>
      </a:dk1>
      <a:lt1>
        <a:srgbClr val="FFFFFF"/>
      </a:lt1>
      <a:dk2>
        <a:srgbClr val="1A212E"/>
      </a:dk2>
      <a:lt2>
        <a:srgbClr val="F0F3F1"/>
      </a:lt2>
      <a:accent1>
        <a:srgbClr val="E729A7"/>
      </a:accent1>
      <a:accent2>
        <a:srgbClr val="C517D5"/>
      </a:accent2>
      <a:accent3>
        <a:srgbClr val="8829E7"/>
      </a:accent3>
      <a:accent4>
        <a:srgbClr val="3E30D9"/>
      </a:accent4>
      <a:accent5>
        <a:srgbClr val="2968E7"/>
      </a:accent5>
      <a:accent6>
        <a:srgbClr val="17A5D5"/>
      </a:accent6>
      <a:hlink>
        <a:srgbClr val="3F54BF"/>
      </a:hlink>
      <a:folHlink>
        <a:srgbClr val="7F7F7F"/>
      </a:folHlink>
    </a:clrScheme>
    <a:fontScheme name="Interweave">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2495</Words>
  <Application>WPS Presentation</Application>
  <PresentationFormat>Widescreen</PresentationFormat>
  <Paragraphs>45</Paragraphs>
  <Slides>5</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vt:i4>
      </vt:variant>
    </vt:vector>
  </HeadingPairs>
  <TitlesOfParts>
    <vt:vector size="19" baseType="lpstr">
      <vt:lpstr>Arial</vt:lpstr>
      <vt:lpstr>SimSun</vt:lpstr>
      <vt:lpstr>Wingdings</vt:lpstr>
      <vt:lpstr>Calibri</vt:lpstr>
      <vt:lpstr>Aptos</vt:lpstr>
      <vt:lpstr>Segoe UI</vt:lpstr>
      <vt:lpstr>Times New Roman</vt:lpstr>
      <vt:lpstr>Symbol</vt:lpstr>
      <vt:lpstr>Courier New</vt:lpstr>
      <vt:lpstr>Neue Haas Grotesk Text Pro</vt:lpstr>
      <vt:lpstr>Liberation Mono</vt:lpstr>
      <vt:lpstr>Microsoft YaHei</vt:lpstr>
      <vt:lpstr>Arial Unicode MS</vt:lpstr>
      <vt:lpstr>InterweaveVTI</vt:lpstr>
      <vt:lpstr>Video app testing task</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Mihaela Maxim</dc:creator>
  <cp:lastModifiedBy>Mihaela Maxim</cp:lastModifiedBy>
  <cp:revision>5</cp:revision>
  <dcterms:created xsi:type="dcterms:W3CDTF">2024-12-06T16:13:00Z</dcterms:created>
  <dcterms:modified xsi:type="dcterms:W3CDTF">2026-01-11T10:17:04Z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InterweaveVTI:8</vt:lpwstr>
  </property>
  <property fmtid="{D5CDD505-2E9C-101B-9397-08002B2CF9AE}" pid="3" name="ClassificationContentMarkingFooterText">
    <vt:lpwstr>Classified - General</vt:lpwstr>
  </property>
  <property fmtid="{D5CDD505-2E9C-101B-9397-08002B2CF9AE}" pid="4" name="ICV">
    <vt:lpwstr>D4245C972D9147DE897FCCD3B8685E84_13</vt:lpwstr>
  </property>
  <property fmtid="{D5CDD505-2E9C-101B-9397-08002B2CF9AE}" pid="5" name="KSOProductBuildVer">
    <vt:lpwstr>1033-12.2.0.23196</vt:lpwstr>
  </property>
</Properties>
</file>